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62" r:id="rId3"/>
    <p:sldId id="266" r:id="rId4"/>
    <p:sldId id="265" r:id="rId5"/>
    <p:sldId id="264" r:id="rId6"/>
    <p:sldId id="263" r:id="rId7"/>
    <p:sldId id="261" r:id="rId8"/>
    <p:sldId id="267" r:id="rId9"/>
    <p:sldId id="268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424" y="56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2.xml"/><Relationship Id="rId9" Type="http://schemas.openxmlformats.org/officeDocument/2006/relationships/tags" Target="../tags/tag1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6.xml"/><Relationship Id="rId4" Type="http://schemas.openxmlformats.org/officeDocument/2006/relationships/tags" Target="../tags/tag65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0.xml"/><Relationship Id="rId9" Type="http://schemas.openxmlformats.org/officeDocument/2006/relationships/tags" Target="../tags/tag7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1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3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4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1870709" y="4790127"/>
            <a:ext cx="749236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Ellipse 36-2082&amp;9912"/>
          <p:cNvSpPr/>
          <p:nvPr userDrawn="1">
            <p:custDataLst>
              <p:tags r:id="rId4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 userDrawn="1">
            <p:custDataLst>
              <p:tags r:id="rId5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7709207" y="263720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1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2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3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50890" y="1621790"/>
            <a:ext cx="5464175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1130518" y="665438"/>
            <a:ext cx="4402908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48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3132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800" y="136440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4800" y="2061275"/>
            <a:ext cx="5157787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311612" y="1364400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311612" y="2061275"/>
            <a:ext cx="518318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8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1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2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4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1841500" y="4217290"/>
            <a:ext cx="10096500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3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 userDrawn="1">
            <p:custDataLst>
              <p:tags r:id="rId14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48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4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45057" y="1647645"/>
            <a:ext cx="10903788" cy="1647646"/>
          </a:xfrm>
        </p:spPr>
        <p:txBody>
          <a:bodyPr>
            <a:normAutofit/>
          </a:bodyPr>
          <a:lstStyle/>
          <a:p>
            <a:r>
              <a:rPr lang="en-GB" sz="4400" dirty="0"/>
              <a:t>Comparative Analysis of MLP and FLAN-T5 for Sentiment Classification</a:t>
            </a:r>
            <a:endParaRPr lang="en-US" sz="4400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345057" y="4701397"/>
            <a:ext cx="7323827" cy="1759788"/>
          </a:xfrm>
        </p:spPr>
        <p:txBody>
          <a:bodyPr>
            <a:normAutofit/>
          </a:bodyPr>
          <a:lstStyle/>
          <a:p>
            <a:r>
              <a:rPr lang="en-GB" sz="2000" dirty="0"/>
              <a:t>MODULE TITLE: CE807-26 –SP TEXT ANALYTICS</a:t>
            </a:r>
          </a:p>
          <a:p>
            <a:r>
              <a:rPr lang="en-GB" sz="2000" dirty="0"/>
              <a:t>Name: NANDINI GAJBHIYE </a:t>
            </a:r>
          </a:p>
          <a:p>
            <a:r>
              <a:rPr lang="en-GB" sz="2000" dirty="0"/>
              <a:t>Registration ID: 2500575</a:t>
            </a:r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46EEF8-0297-8BAB-D710-994FF3346750}"/>
              </a:ext>
            </a:extLst>
          </p:cNvPr>
          <p:cNvSpPr txBox="1"/>
          <p:nvPr/>
        </p:nvSpPr>
        <p:spPr>
          <a:xfrm>
            <a:off x="345056" y="483079"/>
            <a:ext cx="6435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University of Essex MSc in Data Science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47955" y="121285"/>
            <a:ext cx="11346815" cy="342900"/>
          </a:xfrm>
        </p:spPr>
        <p:txBody>
          <a:bodyPr>
            <a:normAutofit fontScale="90000"/>
          </a:bodyPr>
          <a:lstStyle/>
          <a:p>
            <a:r>
              <a:rPr lang="en-GB" altLang="en-US" sz="2400" u="sng">
                <a:latin typeface="Times New Roman" panose="02020603050405020304" charset="0"/>
                <a:cs typeface="Times New Roman" panose="02020603050405020304" charset="0"/>
              </a:rPr>
              <a:t>Introduction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47955" y="629920"/>
            <a:ext cx="11894185" cy="6094730"/>
          </a:xfrm>
        </p:spPr>
        <p:txBody>
          <a:bodyPr/>
          <a:lstStyle/>
          <a:p>
            <a:r>
              <a:rPr lang="en-US" altLang="en-US" sz="1600">
                <a:latin typeface="Times New Roman" panose="02020603050405020304" charset="0"/>
              </a:rPr>
              <a:t>Research Background: Sentiment classification of text is a relevant NLP problem that helps to automate the detection of positive or negative sentiments in reviews.</a:t>
            </a:r>
          </a:p>
          <a:p>
            <a:r>
              <a:rPr lang="en-US" altLang="en-US" sz="1600">
                <a:latin typeface="Times New Roman" panose="02020603050405020304" charset="0"/>
              </a:rPr>
              <a:t>Research Question: Various approaches to text-classification have different processing methods of textual data. Supervised models need a feature representation of text in numbers while language models can use context and language instruction.</a:t>
            </a:r>
          </a:p>
          <a:p>
            <a:r>
              <a:rPr lang="en-US" altLang="en-US" sz="1600">
                <a:latin typeface="Times New Roman" panose="02020603050405020304" charset="0"/>
              </a:rPr>
              <a:t>Research Objectives: This research has two objectives: to compare two approaches to sentiment classification and to assess their efficiency in detecting positive and negative textual reviews.</a:t>
            </a:r>
          </a:p>
          <a:p>
            <a:r>
              <a:rPr lang="en-US" altLang="en-US" sz="1600">
                <a:latin typeface="Times New Roman" panose="02020603050405020304" charset="0"/>
              </a:rPr>
              <a:t>Comparison of Models: The first model used is a supervised Multilayer Perceptron with TF-IDF features such as unigrams and bigrams. The second model is the FLAN-T5-small language model with zero-shot prompting.</a:t>
            </a:r>
          </a:p>
          <a:p>
            <a:r>
              <a:rPr lang="en-US" altLang="en-US" sz="1600">
                <a:latin typeface="Times New Roman" panose="02020603050405020304" charset="0"/>
              </a:rPr>
              <a:t>Evaluation Goal: The goal of evaluation of models is to assess their performance in terms of macro F1-score on a separate validation dataset.</a:t>
            </a:r>
          </a:p>
          <a:p>
            <a:r>
              <a:rPr lang="en-US" altLang="en-US" sz="1600">
                <a:latin typeface="Times New Roman" panose="02020603050405020304" charset="0"/>
              </a:rPr>
              <a:t>Supplementary Objective: Five various prompts are used for FLAN-T5-small model in order to find out the influence of prompt formulation on zero-shot sentiment classification performance.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47955" y="104140"/>
            <a:ext cx="11346815" cy="257810"/>
          </a:xfrm>
        </p:spPr>
        <p:txBody>
          <a:bodyPr>
            <a:normAutofit fontScale="90000"/>
          </a:bodyPr>
          <a:lstStyle/>
          <a:p>
            <a:r>
              <a:rPr lang="en-US" altLang="en-US" sz="2400" u="sng">
                <a:latin typeface="Times New Roman" panose="02020603050405020304" charset="0"/>
                <a:cs typeface="Times New Roman" panose="02020603050405020304" charset="0"/>
              </a:rPr>
              <a:t>Model 1: Multilayer Perceptron (MLP)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48590" y="492760"/>
            <a:ext cx="11807825" cy="6147435"/>
          </a:xfrm>
        </p:spPr>
        <p:txBody>
          <a:bodyPr/>
          <a:lstStyle/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Supervised Model: The Multi-Layer Perceptron (MLP) was trained as a supervised neural network classifier that separates the textual reviews into positive and negative sentiments.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Text Encoding: The textual reviews were encoded in numerical features using the TF-IDF encoding, allowing some words and phrases to have a stronger influence on sentiment classification.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Feature Extraction: A maximum of 6,000 features were extracted using the TF-IDF vectorizer, and the unigrams and bigrams were used to include one and two-word expressions, respectively.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Network Structure: The MLP consisted of one hidden layer with 100 neurons which provided enough computational power to detect nonlinear dependencies between text features and sentiments.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Model Training: The model was trained using the ReLU activation function, Adam optimisation algorithm, maximum 100 iterations, and a fixed random state.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Early Stopping: The early stopping approach was applied to stop the training process when the performance on the validation set started to decline.</a:t>
            </a:r>
          </a:p>
          <a:p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306070" y="5016500"/>
          <a:ext cx="8261350" cy="16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Parameter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Configuration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Text Representation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TF-IDF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Feature Configuration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6,000 features; Unigrams &amp; Bigrams (1,2)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Network Architecture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1 hidden layer; 100 neurons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Training Setup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Max 100 iterations; Early stopping enabled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8736965" y="5147310"/>
            <a:ext cx="31978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1600">
                <a:latin typeface="Times New Roman" panose="02020603050405020304" charset="0"/>
                <a:cs typeface="Times New Roman" panose="02020603050405020304" charset="0"/>
              </a:rPr>
              <a:t>Table: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Model 1: MLP Configuration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65100" y="121285"/>
            <a:ext cx="11329670" cy="190500"/>
          </a:xfrm>
        </p:spPr>
        <p:txBody>
          <a:bodyPr>
            <a:normAutofit fontScale="90000"/>
          </a:bodyPr>
          <a:lstStyle/>
          <a:p>
            <a:r>
              <a:rPr lang="en-US" altLang="en-US" sz="2400" u="sng">
                <a:latin typeface="Times New Roman" panose="02020603050405020304" charset="0"/>
                <a:cs typeface="Times New Roman" panose="02020603050405020304" charset="0"/>
              </a:rPr>
              <a:t>Model 2: Zero-Shot FLAN-T5-small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65735" y="441960"/>
            <a:ext cx="11858625" cy="6300470"/>
          </a:xfrm>
        </p:spPr>
        <p:txBody>
          <a:bodyPr/>
          <a:lstStyle/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Approach for Language Model: FLAN-T5-small was chosen as the language model that was fine-tuned on instructions and could perform the sentiment classification with natural-language instructions.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Zero-Shot Classification: Contrary to the MLP, FLAN-T5-small was not fine-tuned on the sentiment dataset of the study, thus its capability to generalise on a new classification task could be tested.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Prompting Approach: Each review was included in the natural-language prompt asking the model to decide on the sentiment polarity of that review.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Prompt Design: There were five different prompts tested since differences in the instructions wording may affect the zero-shot classification results.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Model Setup: The input sequence was limited to 512 tokens, the output sequence – to five tokens, and sampling – turned off to get deterministic predictions.</a:t>
            </a:r>
          </a:p>
          <a:p>
            <a:endParaRPr lang="en-GB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165100" y="4311650"/>
          <a:ext cx="10198100" cy="1504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990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Parameter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Configuration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Model &amp; Approach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FLAN-T5-small; Zero-shot classification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Prompt Configuration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5 prompts tested; Prompt 2 performed best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Input &amp; Output Settings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Max input: 512 tokens; Max new tokens: 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Best Performance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Macro F1-score: 0.848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358140" y="5922010"/>
            <a:ext cx="99866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1600">
                <a:latin typeface="Times New Roman" panose="02020603050405020304" charset="0"/>
                <a:cs typeface="Times New Roman" panose="02020603050405020304" charset="0"/>
              </a:rPr>
              <a:t>Table: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Model 2: FLAN-T5-small Configuration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47955" y="121285"/>
            <a:ext cx="11346815" cy="292735"/>
          </a:xfrm>
        </p:spPr>
        <p:txBody>
          <a:bodyPr>
            <a:normAutofit fontScale="90000"/>
          </a:bodyPr>
          <a:lstStyle/>
          <a:p>
            <a:r>
              <a:rPr lang="en-US" altLang="en-US" sz="2400" u="sng">
                <a:latin typeface="Times New Roman" panose="02020603050405020304" charset="0"/>
                <a:cs typeface="Times New Roman" panose="02020603050405020304" charset="0"/>
              </a:rPr>
              <a:t>Dataset &amp; 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48590" y="579120"/>
            <a:ext cx="11841480" cy="6094095"/>
          </a:xfrm>
        </p:spPr>
        <p:txBody>
          <a:bodyPr/>
          <a:lstStyle/>
          <a:p>
            <a:pPr marL="0" indent="0">
              <a:buNone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Dataset Splitting: The dataset has been split into three parts: 4,914 training instances, 700 validation instances, and 1,386 testing instances to have different data for training the model and predicting the result.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Training Set: The training set had the most observations in total and was used to train the supervised MLP model based on TF-IDF representation of texts.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Validation Set: The 700 validation instances were used for evaluating the model and finding the most effective FLAN-T5-small prompt for the test predictions.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Classes Distribution: Around 80% of observations had Class A and 20% had Class B among the training, validation, and testing datasets.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Classes Inequality: Class A was presented four times more often than Class B in the dataset.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Evaluation Criterion: Because of such inequality, macro F1-score has been chosen as the criterion for the model evaluation.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0810" y="138430"/>
            <a:ext cx="11363960" cy="360680"/>
          </a:xfrm>
        </p:spPr>
        <p:txBody>
          <a:bodyPr>
            <a:normAutofit fontScale="90000"/>
          </a:bodyPr>
          <a:lstStyle/>
          <a:p>
            <a:r>
              <a:rPr lang="en-US" altLang="en-US" sz="2400" u="sng">
                <a:latin typeface="Times New Roman" panose="02020603050405020304" charset="0"/>
                <a:cs typeface="Times New Roman" panose="02020603050405020304" charset="0"/>
              </a:rPr>
              <a:t>Interpretation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30810" y="629920"/>
            <a:ext cx="11824970" cy="6078220"/>
          </a:xfrm>
        </p:spPr>
        <p:txBody>
          <a:bodyPr/>
          <a:lstStyle/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单击此处编辑母版文本样式</a:t>
            </a:r>
          </a:p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二级</a:t>
            </a:r>
          </a:p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三级</a:t>
            </a:r>
          </a:p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四级</a:t>
            </a:r>
          </a:p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五级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129540" y="628650"/>
          <a:ext cx="10233660" cy="2060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8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8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8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8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115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Model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Approach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Macro F1-Score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Interpretation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115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Multilayer Perceptron (MLP)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TF-IDF + Supervised Neural Network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0.760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Good baseline performance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115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FLAN-T5-small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Zero-Shot LLM – Prompt 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0.848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Best-performing implemented model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115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BERT (Referenced SoTA)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Pre-trained Transformer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0.950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Highest referenced benchmark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115"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Performance Improvement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FLAN-T5 vs. MLP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+0.088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FLAN-T5 performed better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130810" y="2975610"/>
            <a:ext cx="11701145" cy="3531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altLang="en-US" sz="1600">
                <a:latin typeface="Times New Roman" panose="02020603050405020304" charset="0"/>
                <a:cs typeface="Times New Roman" panose="02020603050405020304" charset="0"/>
              </a:rPr>
              <a:t>Table: Results Analysis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MLP Performance: The MLP model attained a macro F1 score of 0.760, representing acceptable sentiment-classification performance with the use of TF-IDF features and supervised neural networks.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FLAN-T5 Performance: FLAN-T5-small attained a higher F1 score of 0.848 when used with Prompt 2, being the best-performing model out of the models implemented in this study.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Performance Comparison: FLAN-T5-small performed better than the MLP by 0.088 F1 points, showing the superiority of contextual language models compared to frequency-based TF-IDF models.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Effect of Prompts: Prompt 2 resulted in the best-performing zero-shot classification, demonstrating the positive effect of explicit instructions on LLM classification.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State-of-the-Art Result Comparison: The benchmarking BERT result of 0.950 stayed higher than both models implemented in this study.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Overall Conclusion: It can be concluded that context-aware and prompt-tuned language models outperform conventional MLP models in text classification tasks.</a:t>
            </a:r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47955" y="121285"/>
            <a:ext cx="11346815" cy="274955"/>
          </a:xfrm>
        </p:spPr>
        <p:txBody>
          <a:bodyPr>
            <a:normAutofit fontScale="90000"/>
          </a:bodyPr>
          <a:lstStyle/>
          <a:p>
            <a:r>
              <a:rPr lang="en-US" altLang="en-US" sz="2400" u="sng">
                <a:latin typeface="Times New Roman" panose="02020603050405020304" charset="0"/>
                <a:cs typeface="Times New Roman" panose="02020603050405020304" charset="0"/>
              </a:rPr>
              <a:t>Conclusion &amp;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48590" y="527050"/>
            <a:ext cx="11910060" cy="6180455"/>
          </a:xfrm>
        </p:spPr>
        <p:txBody>
          <a:bodyPr/>
          <a:lstStyle/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Overall Performance: The experiment was able to contrast two methods for sentiment classification task in binary: MLP classifier with TF-IDF representation vs zero-shot FLAN-T5-small language model.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Best Model: FLAN-T5-small model received the best macro F1-score of 0.848 with Prompt 2, while MLP model performed worse with 0.760 score.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Contextual Understanding: FLAN-T5 was able to use the advantages of the contextual language representations, which enables it to understand connections and meaning, which are not captured by TF-IDF approach.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Prompting Importance: Five prompts testing showed that prompt construction is a crucial element of zero-shot classification process and needs to be done systematically.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MLP Model Value: While being less accurate, MLP classifier can be seen as an efficient computational baseline method for the supervised learning.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Main Conclusion: Contextual understanding and prompting allowed us to gain the performance advantage, while validation and examples helped to interpret models' behaviour differences.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82245" y="138430"/>
            <a:ext cx="11312525" cy="275590"/>
          </a:xfrm>
        </p:spPr>
        <p:txBody>
          <a:bodyPr>
            <a:normAutofit fontScale="90000"/>
          </a:bodyPr>
          <a:lstStyle/>
          <a:p>
            <a:r>
              <a:rPr lang="en-US" altLang="en-US" sz="2400" u="sng">
                <a:latin typeface="Times New Roman" panose="02020603050405020304" charset="0"/>
                <a:cs typeface="Times New Roman" panose="02020603050405020304" charset="0"/>
              </a:rPr>
              <a:t>Recommendations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82880" y="594995"/>
            <a:ext cx="11807190" cy="6061075"/>
          </a:xfrm>
        </p:spPr>
        <p:txBody>
          <a:bodyPr/>
          <a:lstStyle/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Future Work with Larger Transformer Models: Further research could examine the impact of using larger transformer models to see if improved contextual understanding and reasoning ability would enhance sentiment classification compared to FLAN-T5-small.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Fine-Tuning the Model: Apart from employing the zero-shot method to assess the performance of a pre-trained language model, future research could fine-tune the model using labeled sentiment data.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Balancing Classes: Considering the fact that about 80% of the observations fall under Class A, future investigations could examine class weighting, oversampling or other forms of balancing methods.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Optimising Prompts: Given the fact that the performance of the model is affected by prompt wording, future studies could consider designing, testing and optimising prompts.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Error Analysis: Reviews that have been misclassified should be carefully analysed in order to establish issues related to ambiguity, mixed sentiment and unusual wording of sentences.</a:t>
            </a: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Further Analysis: Future studies could conduct further analysis by employing other datasets and evaluation metrics.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65100" y="121285"/>
            <a:ext cx="11329670" cy="327025"/>
          </a:xfrm>
        </p:spPr>
        <p:txBody>
          <a:bodyPr>
            <a:normAutofit fontScale="90000"/>
          </a:bodyPr>
          <a:lstStyle/>
          <a:p>
            <a:r>
              <a:rPr lang="en-US" altLang="en-US" sz="2400" u="sng">
                <a:latin typeface="Times New Roman" panose="02020603050405020304" charset="0"/>
                <a:cs typeface="Times New Roman" panose="02020603050405020304" charset="0"/>
              </a:rPr>
              <a:t>Ref</a:t>
            </a:r>
            <a:r>
              <a:rPr lang="en-GB" altLang="en-US" sz="2400" u="sng">
                <a:latin typeface="Times New Roman" panose="02020603050405020304" charset="0"/>
                <a:cs typeface="Times New Roman" panose="02020603050405020304" charset="0"/>
              </a:rPr>
              <a:t>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65735" y="596265"/>
            <a:ext cx="11857990" cy="6094730"/>
          </a:xfrm>
        </p:spPr>
        <p:txBody>
          <a:bodyPr/>
          <a:lstStyle/>
          <a:p>
            <a:r>
              <a:rPr lang="en-GB" altLang="en-US" sz="1600">
                <a:latin typeface="Times New Roman" panose="02020603050405020304" charset="0"/>
              </a:rPr>
              <a:t>1)</a:t>
            </a:r>
            <a:r>
              <a:rPr lang="en-US" altLang="en-US" sz="1600">
                <a:latin typeface="Times New Roman" panose="02020603050405020304" charset="0"/>
              </a:rPr>
              <a:t>Chung, H. W., Hou, L., Longpre, S., Zoph, B., Tay, Y., Fedus, W., et al. (2024). Scaling instruction-finetuned language models. Journal of Machine Learning Research, 25(70), 1–53.</a:t>
            </a:r>
          </a:p>
          <a:p>
            <a:r>
              <a:rPr lang="en-GB" altLang="en-US" sz="1600">
                <a:latin typeface="Times New Roman" panose="02020603050405020304" charset="0"/>
              </a:rPr>
              <a:t>2)</a:t>
            </a:r>
            <a:r>
              <a:rPr lang="en-US" altLang="en-US" sz="1600">
                <a:latin typeface="Times New Roman" panose="02020603050405020304" charset="0"/>
              </a:rPr>
              <a:t>Devlin, J., Chang, M. W., Lee, K., &amp; Toutanova, K. (2019). BERT: Pre-training of deep bidirectional transformers for language understanding. Proceedings of NAACL-HLT 2019, 4171–4186.</a:t>
            </a:r>
          </a:p>
          <a:p>
            <a:r>
              <a:rPr lang="en-GB" altLang="en-US" sz="1600">
                <a:latin typeface="Times New Roman" panose="02020603050405020304" charset="0"/>
              </a:rPr>
              <a:t>3)</a:t>
            </a:r>
            <a:r>
              <a:rPr lang="en-US" altLang="en-US" sz="1600">
                <a:latin typeface="Times New Roman" panose="02020603050405020304" charset="0"/>
              </a:rPr>
              <a:t>Kowsari, K., Meimandi, K. J., Heidarysafa, M., Mendu, S., Barnes, L., &amp; Brown, D. (2019). Text classification algorithms: A survey. Information, 10(4), 150.</a:t>
            </a:r>
          </a:p>
          <a:p>
            <a:r>
              <a:rPr lang="en-GB" altLang="en-US" sz="1600">
                <a:latin typeface="Times New Roman" panose="02020603050405020304" charset="0"/>
              </a:rPr>
              <a:t>4)</a:t>
            </a:r>
            <a:r>
              <a:rPr lang="en-US" altLang="en-US" sz="1600">
                <a:latin typeface="Times New Roman" panose="02020603050405020304" charset="0"/>
              </a:rPr>
              <a:t>Longpre, S., Hou, L., Vu, T., Webson, A., Chung, H. W., Tay, Y., et al. (2023). The FLAN collection: Designing data and methods for effective instruction tuning. Proceedings of the International Conference on Machine Learning (ICML), 22631–22648.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    NANDINI GAJBHIYE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7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7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7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7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7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7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7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7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custom20233477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9*a*1"/>
  <p:tag name="KSO_WM_TEMPLATE_CATEGORY" val="custom"/>
  <p:tag name="KSO_WM_TEMPLATE_INDEX" val="20233477"/>
  <p:tag name="KSO_WM_UNIT_LAYERLEVEL" val="1"/>
  <p:tag name="KSO_WM_TAG_VERSION" val="3.0"/>
  <p:tag name="KSO_WM_BEAUTIFY_FLAG" val="#wm#"/>
  <p:tag name="KSO_WM_UNIT_PRESET_TEXT" val="THANK YOU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9*f*4"/>
  <p:tag name="KSO_WM_TEMPLATE_CATEGORY" val="custom"/>
  <p:tag name="KSO_WM_TEMPLATE_INDEX" val="20233477"/>
  <p:tag name="KSO_WM_UNIT_LAYERLEVEL" val="1"/>
  <p:tag name="KSO_WM_TAG_VERSION" val="3.0"/>
  <p:tag name="KSO_WM_BEAUTIFY_FLAG" val="#wm#"/>
  <p:tag name="KSO_WM_UNIT_PRESET_TEXT" val="Name"/>
</p:tagLst>
</file>

<file path=ppt/theme/theme1.xml><?xml version="1.0" encoding="utf-8"?>
<a:theme xmlns:a="http://schemas.openxmlformats.org/drawingml/2006/main" name="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1541</Words>
  <Application>Microsoft Office PowerPoint</Application>
  <PresentationFormat>Widescreen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Lato</vt:lpstr>
      <vt:lpstr>Manrope ExtraBold</vt:lpstr>
      <vt:lpstr>Times New Roman</vt:lpstr>
      <vt:lpstr>Office Theme</vt:lpstr>
      <vt:lpstr>Comparative Analysis of MLP and FLAN-T5 for Sentiment Classification</vt:lpstr>
      <vt:lpstr>Introduction and Objectives</vt:lpstr>
      <vt:lpstr>Model 1: Multilayer Perceptron (MLP)</vt:lpstr>
      <vt:lpstr>Model 2: Zero-Shot FLAN-T5-small</vt:lpstr>
      <vt:lpstr>Dataset &amp; Experimental Setup</vt:lpstr>
      <vt:lpstr>Interpretation &amp; Results</vt:lpstr>
      <vt:lpstr>Conclusion &amp; Key Insights</vt:lpstr>
      <vt:lpstr>Recommendations &amp; 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title goes here</dc:title>
  <dc:creator>New User</dc:creator>
  <cp:lastModifiedBy>Nandini Gajbhiye</cp:lastModifiedBy>
  <cp:revision>3</cp:revision>
  <dcterms:created xsi:type="dcterms:W3CDTF">2026-08-15T15:18:23Z</dcterms:created>
  <dcterms:modified xsi:type="dcterms:W3CDTF">2026-08-17T19:54:12Z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F596A9A72A2C4439A31DE09A51AEB292_13</vt:lpwstr>
  </property>
</Properties>
</file>